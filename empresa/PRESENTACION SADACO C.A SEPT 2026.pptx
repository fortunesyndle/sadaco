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63" r:id="rId3"/>
    <p:sldId id="264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4660"/>
  </p:normalViewPr>
  <p:slideViewPr>
    <p:cSldViewPr snapToGrid="0">
      <p:cViewPr>
        <p:scale>
          <a:sx n="62" d="100"/>
          <a:sy n="62" d="100"/>
        </p:scale>
        <p:origin x="548" y="-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774D37-24D1-4B24-855F-948A9B9EC467}" type="datetimeFigureOut">
              <a:rPr lang="es-VE" smtClean="0"/>
              <a:t>25/9/2026</a:t>
            </a:fld>
            <a:endParaRPr lang="es-V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V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A2574-47CE-41C0-82C2-67C6CC0A98A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694191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C733B9-77AE-8FA4-55AB-BE776F5E9D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V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F2CC6F3-1DFE-2027-26B9-46784459B3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37F32A-A927-000F-9AF9-B2FF6BA0D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227F-3550-4640-A19C-FABDB31707A7}" type="datetimeFigureOut">
              <a:rPr lang="es-VE" smtClean="0"/>
              <a:t>25/9/2026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ED0DD3-B697-B650-9F49-E4067F5C1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807481-2B11-38FB-AF00-76D7CB342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914BD-8473-4E04-B169-4FD5E9CA0C4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37297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43E302-E84B-2CF4-29F0-DD19DFC1D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65DD91-3FC3-F5CE-4D5A-ABC8CA01C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E935BA-2CAA-D716-F996-91F8E879B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227F-3550-4640-A19C-FABDB31707A7}" type="datetimeFigureOut">
              <a:rPr lang="es-VE" smtClean="0"/>
              <a:t>25/9/2026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8FF61A-E7F6-E2AB-45CA-370D67050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2024A2-0803-716D-AE3C-DA8A23E76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914BD-8473-4E04-B169-4FD5E9CA0C4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330159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583DF6-61EE-C264-1F21-15ACAC265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FF0593-D1DD-0FC9-E646-965B47E81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456852-AE8E-BBDD-AE0D-BA503954E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227F-3550-4640-A19C-FABDB31707A7}" type="datetimeFigureOut">
              <a:rPr lang="es-VE" smtClean="0"/>
              <a:t>25/9/2026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0A727A-A666-18BC-0C85-6027B7662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77186E-A610-C730-B665-958F3FAFD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914BD-8473-4E04-B169-4FD5E9CA0C4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634770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72ED2-7956-784B-0961-B5CAB326E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E57BC3-1ADB-E69B-57E7-876D1E2F45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V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CDFE05-42F2-6730-B541-ECB9463F7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V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1935CA-2FFB-D726-17CB-2CB2924B7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227F-3550-4640-A19C-FABDB31707A7}" type="datetimeFigureOut">
              <a:rPr lang="es-VE" smtClean="0"/>
              <a:t>25/9/2026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C65457-42A0-5C15-6C0B-A649D2455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DD76961-EC53-C2FC-854A-1B9A884C0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914BD-8473-4E04-B169-4FD5E9CA0C4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200132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D7F440-A936-D5B7-7760-1280AAA67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846FBE-BEE9-B887-986C-25A8213C2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C8B6523-4140-544A-7B4F-CA26479C1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V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C4A214D-EE7F-41FB-42EF-338391DDE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4EE52EE-E374-FABB-0E1A-BC90A26D69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V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D79BE02-F8E5-DB49-7CF4-64F342A55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227F-3550-4640-A19C-FABDB31707A7}" type="datetimeFigureOut">
              <a:rPr lang="es-VE" smtClean="0"/>
              <a:t>25/9/2026</a:t>
            </a:fld>
            <a:endParaRPr lang="es-V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742E760-ED1F-2B36-759D-BDA58E7B0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CE31123-357A-E66F-3C70-15F5A3832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914BD-8473-4E04-B169-4FD5E9CA0C4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900024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0DA50A-3F09-E5E0-5B4D-7E7136EC8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V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46319E2-6D51-27FC-4B87-3778C0165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227F-3550-4640-A19C-FABDB31707A7}" type="datetimeFigureOut">
              <a:rPr lang="es-VE" smtClean="0"/>
              <a:t>25/9/2026</a:t>
            </a:fld>
            <a:endParaRPr lang="es-V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CB38BE6-CA16-C095-F47A-FC3C2E0AC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20BB3C6-40F8-6EB4-9090-1801BC145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914BD-8473-4E04-B169-4FD5E9CA0C4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28408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9499863-AB0F-95D5-5E15-8E7032597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227F-3550-4640-A19C-FABDB31707A7}" type="datetimeFigureOut">
              <a:rPr lang="es-VE" smtClean="0"/>
              <a:t>25/9/2026</a:t>
            </a:fld>
            <a:endParaRPr lang="es-V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B546888-6B40-5DD4-1BCB-7C7DBD581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E8A3B86-A3C3-0BA5-4B60-D9BB57737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914BD-8473-4E04-B169-4FD5E9CA0C4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293493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068B9-9EA9-0C2D-3106-45633C948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2EB54A-FB80-5B81-1A5A-ACF4761AA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ECF14A7-FC9B-D040-77DF-71E158917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0B7625-28B0-5152-EEF9-D8A709D97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227F-3550-4640-A19C-FABDB31707A7}" type="datetimeFigureOut">
              <a:rPr lang="es-VE" smtClean="0"/>
              <a:t>25/9/2026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8C33B99-C253-4ECE-54AC-7E30FC914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75E23F-FC92-950D-6C88-1B7798694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914BD-8473-4E04-B169-4FD5E9CA0C4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373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F8A484-9705-FC0F-3541-D73CE967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V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61CE0AA-6D4D-A142-B7FE-EE9BBC0645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793AE9-5EEF-88F6-A2D3-083F487B5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D83FB11-79B5-4463-82A8-C9C675461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227F-3550-4640-A19C-FABDB31707A7}" type="datetimeFigureOut">
              <a:rPr lang="es-VE" smtClean="0"/>
              <a:t>25/9/2026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E566BE-1FF7-72BF-9344-D54CB222A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984AF1-AD14-3599-0DB0-9FB159B7A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914BD-8473-4E04-B169-4FD5E9CA0C4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423106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41D423-ADD0-CA50-5F15-252E0CF15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75C6E95-F198-ADCE-F3B5-E531C2E30D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88DD8D-8BA9-ED07-3474-0DFFAA353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227F-3550-4640-A19C-FABDB31707A7}" type="datetimeFigureOut">
              <a:rPr lang="es-VE" smtClean="0"/>
              <a:t>25/9/2026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890C1A-AC32-D1E4-2BD3-10BCF0009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89B401-43CE-0E65-F51E-FD6904A57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914BD-8473-4E04-B169-4FD5E9CA0C4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615608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1D85F3B-394F-8B38-7136-2889E47DEB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C1BFF9B-3C0F-475B-4F10-C14424A6F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E8B613-87E3-E62B-5363-947B5F94B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227F-3550-4640-A19C-FABDB31707A7}" type="datetimeFigureOut">
              <a:rPr lang="es-VE" smtClean="0"/>
              <a:t>25/9/2026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87D963-7564-F3A2-98C0-C6F9ABD5B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896651-78FD-7CA2-C752-7D9408627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914BD-8473-4E04-B169-4FD5E9CA0C4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558428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7EA6128-869B-FA09-BB09-74A5F75AD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88D4B3-A12C-C774-3818-36EA227B4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F9CABD-D630-C2E1-E325-DBD9BB81B3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9227F-3550-4640-A19C-FABDB31707A7}" type="datetimeFigureOut">
              <a:rPr lang="es-VE" smtClean="0"/>
              <a:t>25/9/2026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F559EC-8F73-3FDA-B739-91340CE58C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7790CD-4B66-CF09-85D5-029554D3D9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914BD-8473-4E04-B169-4FD5E9CA0C4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407141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ADE9C72C-E2C5-B13F-2C4B-80F6C227A4C8}"/>
              </a:ext>
            </a:extLst>
          </p:cNvPr>
          <p:cNvGrpSpPr/>
          <p:nvPr/>
        </p:nvGrpSpPr>
        <p:grpSpPr>
          <a:xfrm>
            <a:off x="20548" y="-2"/>
            <a:ext cx="12136915" cy="1890003"/>
            <a:chOff x="0" y="-2"/>
            <a:chExt cx="12136915" cy="1890003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62467F57-25CA-F491-D8B1-C04B5CCEEF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01916" y="-1"/>
              <a:ext cx="2834999" cy="1889999"/>
            </a:xfrm>
            <a:prstGeom prst="rect">
              <a:avLst/>
            </a:prstGeom>
          </p:spPr>
        </p:pic>
        <p:pic>
          <p:nvPicPr>
            <p:cNvPr id="11" name="Imagen 10" descr="Resultado de imagen de INSTRUMENTACION EN LA INDUSTRIA PETROLERA">
              <a:extLst>
                <a:ext uri="{FF2B5EF4-FFF2-40B4-BE49-F238E27FC236}">
                  <a16:creationId xmlns:a16="http://schemas.microsoft.com/office/drawing/2014/main" id="{789BB162-B2A9-CD89-6444-B9A897B10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2897436" cy="1890001"/>
            </a:xfrm>
            <a:prstGeom prst="rect">
              <a:avLst/>
            </a:prstGeom>
          </p:spPr>
        </p:pic>
        <p:pic>
          <p:nvPicPr>
            <p:cNvPr id="5" name="Imagen 4" descr="Back Pressure Regulators | Fine Controls Ltd">
              <a:extLst>
                <a:ext uri="{FF2B5EF4-FFF2-40B4-BE49-F238E27FC236}">
                  <a16:creationId xmlns:a16="http://schemas.microsoft.com/office/drawing/2014/main" id="{66402AFC-693C-BED3-31A0-AD30E9A0D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97436" y="-2"/>
              <a:ext cx="3198564" cy="1890001"/>
            </a:xfrm>
            <a:prstGeom prst="rect">
              <a:avLst/>
            </a:prstGeom>
          </p:spPr>
        </p:pic>
        <p:pic>
          <p:nvPicPr>
            <p:cNvPr id="9" name="Imagen 8" descr="管道管理中的泄漏监测 | Phoenix Contact">
              <a:extLst>
                <a:ext uri="{FF2B5EF4-FFF2-40B4-BE49-F238E27FC236}">
                  <a16:creationId xmlns:a16="http://schemas.microsoft.com/office/drawing/2014/main" id="{CF23CC0B-0502-D3DD-669C-8F6796E9A0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5999" y="0"/>
              <a:ext cx="3205917" cy="1889999"/>
            </a:xfrm>
            <a:prstGeom prst="rect">
              <a:avLst/>
            </a:prstGeom>
          </p:spPr>
        </p:pic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43CC7120-CEB9-7C0E-B2C0-783A12E98211}"/>
              </a:ext>
            </a:extLst>
          </p:cNvPr>
          <p:cNvSpPr txBox="1"/>
          <p:nvPr/>
        </p:nvSpPr>
        <p:spPr>
          <a:xfrm>
            <a:off x="3346450" y="1994187"/>
            <a:ext cx="5499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SADACO C.A</a:t>
            </a:r>
          </a:p>
          <a:p>
            <a:pPr algn="ctr"/>
            <a:r>
              <a:rPr lang="es-VE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Servicios y Suministros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5F3C2B-89A7-1C9D-5E26-7C8F22C26B97}"/>
              </a:ext>
            </a:extLst>
          </p:cNvPr>
          <p:cNvSpPr txBox="1"/>
          <p:nvPr/>
        </p:nvSpPr>
        <p:spPr>
          <a:xfrm>
            <a:off x="368300" y="3255190"/>
            <a:ext cx="106045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Empresa venezolana ubicada en Ciudad Ojeda estado Zulia, Venezuela</a:t>
            </a:r>
            <a:r>
              <a:rPr lang="es-MX" b="1" dirty="0"/>
              <a:t>,</a:t>
            </a:r>
            <a:r>
              <a:rPr lang="es-MX" dirty="0"/>
              <a:t> dedicada a la prestación de servicios especializados al sector empresaria público y privado, en las ramas de</a:t>
            </a:r>
            <a:r>
              <a:rPr lang="es-MX" b="1" dirty="0"/>
              <a:t> procura y suministro de materiales y equipos especializados</a:t>
            </a:r>
            <a:r>
              <a:rPr lang="es-MX" dirty="0"/>
              <a:t>, así como en el desarrollo de </a:t>
            </a:r>
            <a:r>
              <a:rPr lang="es-MX" b="1" dirty="0"/>
              <a:t>proyectos de ingeniería, construcción </a:t>
            </a:r>
            <a:r>
              <a:rPr lang="es-MX" dirty="0"/>
              <a:t>orientados a la industria nacional, especialmente en los sectores petrolero y petroquímico, con la capacidad de atender proyectos de diversa complejidad en todo el territorio nacional.</a:t>
            </a:r>
            <a:endParaRPr lang="es-VE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AC86DE4-17F8-D837-8BFC-66D80C3A2D6F}"/>
              </a:ext>
            </a:extLst>
          </p:cNvPr>
          <p:cNvSpPr txBox="1"/>
          <p:nvPr/>
        </p:nvSpPr>
        <p:spPr>
          <a:xfrm>
            <a:off x="368300" y="2804748"/>
            <a:ext cx="2851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QUIENES SOMOS.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9C1723-6032-2E95-1489-60085992DDFA}"/>
              </a:ext>
            </a:extLst>
          </p:cNvPr>
          <p:cNvSpPr txBox="1"/>
          <p:nvPr/>
        </p:nvSpPr>
        <p:spPr>
          <a:xfrm>
            <a:off x="368301" y="4874740"/>
            <a:ext cx="106045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Compromiso con la industria nacional.</a:t>
            </a:r>
          </a:p>
          <a:p>
            <a:pPr algn="just"/>
            <a:endParaRPr lang="es-MX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es-MX" dirty="0"/>
              <a:t>Desde su fundación, la empresa ha orientado su gestión a apoyar activamente el desarrollo de la </a:t>
            </a:r>
            <a:r>
              <a:rPr lang="es-MX" b="1" dirty="0"/>
              <a:t>industria nacional</a:t>
            </a:r>
            <a:r>
              <a:rPr lang="es-MX" dirty="0"/>
              <a:t>, brindando soluciones técnicas confiables a empresas públicas y privadas. Este compromiso se refleja en una participación constante en proyectos estratégicos que demandan continuidad operativa, alto desempeño y cumplimiento normativo.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1166969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3F6FE6D-1AE8-BBCF-7AA9-1BC32E0E6E38}"/>
              </a:ext>
            </a:extLst>
          </p:cNvPr>
          <p:cNvSpPr txBox="1"/>
          <p:nvPr/>
        </p:nvSpPr>
        <p:spPr>
          <a:xfrm>
            <a:off x="130629" y="2231572"/>
            <a:ext cx="643345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Calidad, seguridad y responsabilidad operativa</a:t>
            </a:r>
          </a:p>
          <a:p>
            <a:r>
              <a:rPr lang="es-MX" b="1" dirty="0"/>
              <a:t>Valores que sustentan cada operación</a:t>
            </a:r>
          </a:p>
          <a:p>
            <a:endParaRPr lang="es-MX" b="1" dirty="0"/>
          </a:p>
          <a:p>
            <a:pPr algn="just"/>
            <a:r>
              <a:rPr lang="es-MX" dirty="0"/>
              <a:t>Todas las actividades se desarrollan bajo una cultura orientada a la </a:t>
            </a:r>
            <a:r>
              <a:rPr lang="es-MX" b="1" dirty="0"/>
              <a:t>calidad, la seguridad industrial y la responsabilidad operativa</a:t>
            </a:r>
            <a:r>
              <a:rPr lang="es-MX" dirty="0"/>
              <a:t>, aplicando planes de control, buenas prácticas y criterios alineados con </a:t>
            </a:r>
            <a:r>
              <a:rPr lang="es-MX" b="1" dirty="0"/>
              <a:t>normativas nacionales e internacionales</a:t>
            </a:r>
            <a:r>
              <a:rPr lang="es-MX" dirty="0"/>
              <a:t>.</a:t>
            </a:r>
          </a:p>
          <a:p>
            <a:pPr algn="just"/>
            <a:endParaRPr lang="es-MX" dirty="0"/>
          </a:p>
          <a:p>
            <a:pPr algn="just"/>
            <a:r>
              <a:rPr lang="es-MX" dirty="0"/>
              <a:t>Este enfoque permite suministrar materiales y equipos de marcas reconocidas en el mercado nacional e internacional y ejecutar cada operación de forma segura y controlada, resguardando al personal, los procesos y los activos involucrados, y asegurando </a:t>
            </a:r>
            <a:r>
              <a:rPr lang="es-MX" b="1" dirty="0"/>
              <a:t>confiabilidad, sostenibilidad y continuidad operativa</a:t>
            </a:r>
            <a:r>
              <a:rPr lang="es-MX" dirty="0"/>
              <a:t> en cada proyecto desarrollado.</a:t>
            </a:r>
          </a:p>
          <a:p>
            <a:endParaRPr lang="es-VE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718084F9-E403-E056-BE94-824EF477E6AD}"/>
              </a:ext>
            </a:extLst>
          </p:cNvPr>
          <p:cNvGrpSpPr/>
          <p:nvPr/>
        </p:nvGrpSpPr>
        <p:grpSpPr>
          <a:xfrm>
            <a:off x="20548" y="-2"/>
            <a:ext cx="12136915" cy="1890003"/>
            <a:chOff x="0" y="-2"/>
            <a:chExt cx="12136915" cy="1890003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949430C3-A99A-DF58-BE91-291447F96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01916" y="-1"/>
              <a:ext cx="2834999" cy="1889999"/>
            </a:xfrm>
            <a:prstGeom prst="rect">
              <a:avLst/>
            </a:prstGeom>
          </p:spPr>
        </p:pic>
        <p:pic>
          <p:nvPicPr>
            <p:cNvPr id="6" name="Imagen 5" descr="Resultado de imagen de INSTRUMENTACION EN LA INDUSTRIA PETROLERA">
              <a:extLst>
                <a:ext uri="{FF2B5EF4-FFF2-40B4-BE49-F238E27FC236}">
                  <a16:creationId xmlns:a16="http://schemas.microsoft.com/office/drawing/2014/main" id="{475FF40D-E2D0-F642-F8EB-29922B6CD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2897436" cy="1890001"/>
            </a:xfrm>
            <a:prstGeom prst="rect">
              <a:avLst/>
            </a:prstGeom>
          </p:spPr>
        </p:pic>
        <p:pic>
          <p:nvPicPr>
            <p:cNvPr id="7" name="Imagen 6" descr="Back Pressure Regulators | Fine Controls Ltd">
              <a:extLst>
                <a:ext uri="{FF2B5EF4-FFF2-40B4-BE49-F238E27FC236}">
                  <a16:creationId xmlns:a16="http://schemas.microsoft.com/office/drawing/2014/main" id="{59B9B44F-2DBD-2981-70E4-0FEC6B767B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97436" y="-2"/>
              <a:ext cx="3198564" cy="1890001"/>
            </a:xfrm>
            <a:prstGeom prst="rect">
              <a:avLst/>
            </a:prstGeom>
          </p:spPr>
        </p:pic>
        <p:pic>
          <p:nvPicPr>
            <p:cNvPr id="8" name="Imagen 7" descr="管道管理中的泄漏监测 | Phoenix Contact">
              <a:extLst>
                <a:ext uri="{FF2B5EF4-FFF2-40B4-BE49-F238E27FC236}">
                  <a16:creationId xmlns:a16="http://schemas.microsoft.com/office/drawing/2014/main" id="{17E40F4A-AED8-A6C4-D8E2-312241FCF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5999" y="0"/>
              <a:ext cx="3205917" cy="1889999"/>
            </a:xfrm>
            <a:prstGeom prst="rect">
              <a:avLst/>
            </a:prstGeom>
          </p:spPr>
        </p:pic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754FF6D6-351D-C463-65E5-6F381F5141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094" y="3067049"/>
            <a:ext cx="3999139" cy="266609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23603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4DFFB85-9023-DD00-A024-3DBBDCA93B15}"/>
              </a:ext>
            </a:extLst>
          </p:cNvPr>
          <p:cNvSpPr txBox="1"/>
          <p:nvPr/>
        </p:nvSpPr>
        <p:spPr>
          <a:xfrm>
            <a:off x="33659" y="2100440"/>
            <a:ext cx="4830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Nuestra experiencia en la industria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07ECAD4-9CBD-B587-13F4-D4CECF39D1F0}"/>
              </a:ext>
            </a:extLst>
          </p:cNvPr>
          <p:cNvSpPr txBox="1"/>
          <p:nvPr/>
        </p:nvSpPr>
        <p:spPr>
          <a:xfrm>
            <a:off x="0" y="2711804"/>
            <a:ext cx="121238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Somos especialistas con una sólida trayectoria y capacidades técnicas de alto nivel indispensables para brindar </a:t>
            </a:r>
            <a:r>
              <a:rPr lang="es-MX" b="1" dirty="0"/>
              <a:t>soluciones técnicas confiables</a:t>
            </a:r>
            <a:r>
              <a:rPr lang="es-MX" dirty="0"/>
              <a:t> a los sectores más exigentes, combinando experiencia, tecnología y un enfoque orientado a resultados que aseguran la continuidad y eficiencia de las operaciones en los</a:t>
            </a:r>
            <a:r>
              <a:rPr lang="es-VE" dirty="0"/>
              <a:t> sectores industriales altamente exigentes, caracterizados por </a:t>
            </a:r>
            <a:r>
              <a:rPr lang="es-VE" b="1" dirty="0"/>
              <a:t>altos estándares técnicos, operativos y normativos</a:t>
            </a:r>
            <a:r>
              <a:rPr lang="es-VE" dirty="0"/>
              <a:t>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0B2F22C-8BAB-9A99-1FBE-25BAC1CE073D}"/>
              </a:ext>
            </a:extLst>
          </p:cNvPr>
          <p:cNvSpPr txBox="1"/>
          <p:nvPr/>
        </p:nvSpPr>
        <p:spPr>
          <a:xfrm>
            <a:off x="0" y="4067517"/>
            <a:ext cx="52408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Enfoque integral en cada proyecto</a:t>
            </a:r>
          </a:p>
          <a:p>
            <a:endParaRPr lang="es-VE" sz="2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C107CF8-3D16-2880-BE11-B62FC2CF4559}"/>
              </a:ext>
            </a:extLst>
          </p:cNvPr>
          <p:cNvSpPr txBox="1"/>
          <p:nvPr/>
        </p:nvSpPr>
        <p:spPr>
          <a:xfrm>
            <a:off x="33659" y="4630911"/>
            <a:ext cx="116471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La empresa aborda cada proyecto desde un </a:t>
            </a:r>
            <a:r>
              <a:rPr lang="es-MX" b="1" dirty="0"/>
              <a:t>enfoque integral</a:t>
            </a:r>
            <a:r>
              <a:rPr lang="es-MX" dirty="0"/>
              <a:t>, combinando planificación, procura y suministro de equipos y materiales en conjunto con el conocimiento técnico y la experiencia operativa para responder a los requerimientos específicos de cada cliente del ámbito industrial. Esta visión permite comprender el alcance completo de cada desafío y actuar de manera coordinada en todas sus etapas.</a:t>
            </a:r>
          </a:p>
          <a:p>
            <a:pPr algn="just"/>
            <a:endParaRPr lang="es-MX" dirty="0"/>
          </a:p>
          <a:p>
            <a:pPr algn="just"/>
            <a:r>
              <a:rPr lang="es-MX" dirty="0"/>
              <a:t>Gracias a este enfoque, se desarrollan soluciones coherentes y eficientes, adaptadas a la complejidad de cada entorno industrial, asegurando resultados alineados con las necesidades técnicas, operativas y organizacionales de cada proyecto. 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063AED52-B72C-46C6-80DD-4D3534DF617E}"/>
              </a:ext>
            </a:extLst>
          </p:cNvPr>
          <p:cNvGrpSpPr/>
          <p:nvPr/>
        </p:nvGrpSpPr>
        <p:grpSpPr>
          <a:xfrm>
            <a:off x="20548" y="-2"/>
            <a:ext cx="12136915" cy="1890003"/>
            <a:chOff x="0" y="-2"/>
            <a:chExt cx="12136915" cy="1890003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6C48255F-1A38-7965-B47C-91799EEB4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01916" y="-1"/>
              <a:ext cx="2834999" cy="1889999"/>
            </a:xfrm>
            <a:prstGeom prst="rect">
              <a:avLst/>
            </a:prstGeom>
          </p:spPr>
        </p:pic>
        <p:pic>
          <p:nvPicPr>
            <p:cNvPr id="10" name="Imagen 9" descr="Resultado de imagen de INSTRUMENTACION EN LA INDUSTRIA PETROLERA">
              <a:extLst>
                <a:ext uri="{FF2B5EF4-FFF2-40B4-BE49-F238E27FC236}">
                  <a16:creationId xmlns:a16="http://schemas.microsoft.com/office/drawing/2014/main" id="{410A0900-4D3A-3EB3-EB07-4BB4D759C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2897436" cy="1890001"/>
            </a:xfrm>
            <a:prstGeom prst="rect">
              <a:avLst/>
            </a:prstGeom>
          </p:spPr>
        </p:pic>
        <p:pic>
          <p:nvPicPr>
            <p:cNvPr id="11" name="Imagen 10" descr="Back Pressure Regulators | Fine Controls Ltd">
              <a:extLst>
                <a:ext uri="{FF2B5EF4-FFF2-40B4-BE49-F238E27FC236}">
                  <a16:creationId xmlns:a16="http://schemas.microsoft.com/office/drawing/2014/main" id="{DB1D9B81-EE39-7E0B-DC66-4A782930BA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97436" y="-2"/>
              <a:ext cx="3198564" cy="1890001"/>
            </a:xfrm>
            <a:prstGeom prst="rect">
              <a:avLst/>
            </a:prstGeom>
          </p:spPr>
        </p:pic>
        <p:pic>
          <p:nvPicPr>
            <p:cNvPr id="12" name="Imagen 11" descr="管道管理中的泄漏监测 | Phoenix Contact">
              <a:extLst>
                <a:ext uri="{FF2B5EF4-FFF2-40B4-BE49-F238E27FC236}">
                  <a16:creationId xmlns:a16="http://schemas.microsoft.com/office/drawing/2014/main" id="{59F1AC52-47BE-24E4-3238-390F41D6AC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5999" y="0"/>
              <a:ext cx="3205917" cy="1889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64441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46316F9-3E96-9679-E5CF-61F9194086E1}"/>
              </a:ext>
            </a:extLst>
          </p:cNvPr>
          <p:cNvSpPr txBox="1"/>
          <p:nvPr/>
        </p:nvSpPr>
        <p:spPr>
          <a:xfrm>
            <a:off x="2654691" y="2087224"/>
            <a:ext cx="65777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 que define a nuestra empresa</a:t>
            </a:r>
          </a:p>
          <a:p>
            <a:pPr algn="ctr"/>
            <a:r>
              <a:rPr lang="es-MX" b="1" dirty="0"/>
              <a:t>Misión y visión que orientan nuestro trabajo</a:t>
            </a:r>
          </a:p>
          <a:p>
            <a:pPr algn="ctr"/>
            <a:endParaRPr lang="es-V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AB4E95E-9E6F-170C-CEBB-F4B2008A6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2666" y="2538318"/>
            <a:ext cx="3896833" cy="342872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EF374D1-F410-F18F-58CB-000DC6102451}"/>
              </a:ext>
            </a:extLst>
          </p:cNvPr>
          <p:cNvSpPr txBox="1"/>
          <p:nvPr/>
        </p:nvSpPr>
        <p:spPr>
          <a:xfrm>
            <a:off x="114794" y="2744938"/>
            <a:ext cx="8385736" cy="39703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s-MX" b="1" dirty="0"/>
              <a:t>Visión</a:t>
            </a:r>
          </a:p>
          <a:p>
            <a:pPr algn="just"/>
            <a:br>
              <a:rPr lang="es-MX" dirty="0"/>
            </a:br>
            <a:r>
              <a:rPr lang="es-MX" dirty="0"/>
              <a:t>Ser reconocidos como una empresa líder en el sector industrial público y privado, destacándonos por la excelencia en soluciones integrales en relación a procura y suministro materiales y equipos, proyectos de ingeniería y construcción, que optimicen la operatividad y eficiencia de los procesos productivos.</a:t>
            </a:r>
          </a:p>
          <a:p>
            <a:pPr algn="just"/>
            <a:endParaRPr lang="es-MX" b="1" dirty="0"/>
          </a:p>
          <a:p>
            <a:pPr algn="just"/>
            <a:r>
              <a:rPr lang="es-MX" b="1" dirty="0"/>
              <a:t>Misión</a:t>
            </a:r>
          </a:p>
          <a:p>
            <a:pPr algn="just"/>
            <a:br>
              <a:rPr lang="es-MX" dirty="0"/>
            </a:br>
            <a:r>
              <a:rPr lang="es-MX" dirty="0"/>
              <a:t>Proveer soluciones de ingeniería, construcción, mantenimiento, procura y suministro de equipos y materiales para el sector industrial público y privado en las áreas de instrumentación, automatización, sistemas de control, mecánica y electricidad, asegurando los más altos estándares de calidad, seguridad y eficiencia operativa.</a:t>
            </a:r>
          </a:p>
          <a:p>
            <a:pPr algn="just"/>
            <a:endParaRPr lang="es-VE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049A4CB3-AE23-A5E7-5446-FB7C821F7498}"/>
              </a:ext>
            </a:extLst>
          </p:cNvPr>
          <p:cNvGrpSpPr/>
          <p:nvPr/>
        </p:nvGrpSpPr>
        <p:grpSpPr>
          <a:xfrm>
            <a:off x="14479" y="44819"/>
            <a:ext cx="12136915" cy="1890003"/>
            <a:chOff x="0" y="-2"/>
            <a:chExt cx="12136915" cy="1890003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9B76B86C-CEA7-802E-1E46-E0D0DF032C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01916" y="-1"/>
              <a:ext cx="2834999" cy="1889999"/>
            </a:xfrm>
            <a:prstGeom prst="rect">
              <a:avLst/>
            </a:prstGeom>
          </p:spPr>
        </p:pic>
        <p:pic>
          <p:nvPicPr>
            <p:cNvPr id="8" name="Imagen 7" descr="Resultado de imagen de INSTRUMENTACION EN LA INDUSTRIA PETROLERA">
              <a:extLst>
                <a:ext uri="{FF2B5EF4-FFF2-40B4-BE49-F238E27FC236}">
                  <a16:creationId xmlns:a16="http://schemas.microsoft.com/office/drawing/2014/main" id="{E05B7933-8520-3D7F-AEDC-337F54599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2897436" cy="1890001"/>
            </a:xfrm>
            <a:prstGeom prst="rect">
              <a:avLst/>
            </a:prstGeom>
          </p:spPr>
        </p:pic>
        <p:pic>
          <p:nvPicPr>
            <p:cNvPr id="9" name="Imagen 8" descr="Back Pressure Regulators | Fine Controls Ltd">
              <a:extLst>
                <a:ext uri="{FF2B5EF4-FFF2-40B4-BE49-F238E27FC236}">
                  <a16:creationId xmlns:a16="http://schemas.microsoft.com/office/drawing/2014/main" id="{A80C79FE-B7FC-CE2D-7D51-C67FCC159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7436" y="-2"/>
              <a:ext cx="3198564" cy="1890001"/>
            </a:xfrm>
            <a:prstGeom prst="rect">
              <a:avLst/>
            </a:prstGeom>
          </p:spPr>
        </p:pic>
        <p:pic>
          <p:nvPicPr>
            <p:cNvPr id="10" name="Imagen 9" descr="管道管理中的泄漏监测 | Phoenix Contact">
              <a:extLst>
                <a:ext uri="{FF2B5EF4-FFF2-40B4-BE49-F238E27FC236}">
                  <a16:creationId xmlns:a16="http://schemas.microsoft.com/office/drawing/2014/main" id="{2CA9D4E1-80C2-BD51-EFCC-D003B4B06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95999" y="0"/>
              <a:ext cx="3205917" cy="1889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6331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EB5C711-4686-1956-AA0D-67AEE1DCCFDA}"/>
              </a:ext>
            </a:extLst>
          </p:cNvPr>
          <p:cNvSpPr txBox="1"/>
          <p:nvPr/>
        </p:nvSpPr>
        <p:spPr>
          <a:xfrm>
            <a:off x="1356974" y="2953875"/>
            <a:ext cx="947805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dirty="0"/>
              <a:t>Procura y suministro de equipos y materiales para el sector industrial, incluyendo movilización y traslados.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dirty="0"/>
              <a:t>Soluciones integrales en ingeniería, instrumentación, control y servicios industriales especializados.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dirty="0"/>
              <a:t>Desarrollo y ejecución integral de proyectos, desde la ingeniería de detalle hasta la construcción y puesta en marcha.</a:t>
            </a:r>
          </a:p>
          <a:p>
            <a:pPr marL="285750" indent="-285750" algn="just" fontAlgn="base">
              <a:buFont typeface="Wingdings" panose="05000000000000000000" pitchFamily="2" charset="2"/>
              <a:buChar char="Ø"/>
            </a:pPr>
            <a:r>
              <a:rPr lang="es-MX" dirty="0"/>
              <a:t>Asistencia técnica en la elaboración de proyectos.</a:t>
            </a:r>
          </a:p>
          <a:p>
            <a:pPr marL="285750" indent="-285750" algn="just" fontAlgn="base">
              <a:buFont typeface="Wingdings" panose="05000000000000000000" pitchFamily="2" charset="2"/>
              <a:buChar char="Ø"/>
            </a:pPr>
            <a:r>
              <a:rPr lang="es-MX" dirty="0"/>
              <a:t>Suministro de personal profesional, técnico y especializado, altamente calificado en ingeniería y gestión de proyectos.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8EC1556-D416-CE3E-E43B-E584A61058B2}"/>
              </a:ext>
            </a:extLst>
          </p:cNvPr>
          <p:cNvSpPr txBox="1"/>
          <p:nvPr/>
        </p:nvSpPr>
        <p:spPr>
          <a:xfrm>
            <a:off x="3490489" y="2075730"/>
            <a:ext cx="423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¿Qué hacemos?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6527FFC-4C5E-3EB6-05F7-1E292FA85625}"/>
              </a:ext>
            </a:extLst>
          </p:cNvPr>
          <p:cNvGrpSpPr/>
          <p:nvPr/>
        </p:nvGrpSpPr>
        <p:grpSpPr>
          <a:xfrm>
            <a:off x="27541" y="-33051"/>
            <a:ext cx="12136915" cy="1890003"/>
            <a:chOff x="0" y="-2"/>
            <a:chExt cx="12136915" cy="1890003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C621B09C-D1B7-F27E-B5F2-C6F9B51FA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01916" y="-1"/>
              <a:ext cx="2834999" cy="1889999"/>
            </a:xfrm>
            <a:prstGeom prst="rect">
              <a:avLst/>
            </a:prstGeom>
          </p:spPr>
        </p:pic>
        <p:pic>
          <p:nvPicPr>
            <p:cNvPr id="9" name="Imagen 8" descr="Resultado de imagen de INSTRUMENTACION EN LA INDUSTRIA PETROLERA">
              <a:extLst>
                <a:ext uri="{FF2B5EF4-FFF2-40B4-BE49-F238E27FC236}">
                  <a16:creationId xmlns:a16="http://schemas.microsoft.com/office/drawing/2014/main" id="{526CEC7D-6D55-8EF6-A687-B071077A7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2897436" cy="1890001"/>
            </a:xfrm>
            <a:prstGeom prst="rect">
              <a:avLst/>
            </a:prstGeom>
          </p:spPr>
        </p:pic>
        <p:pic>
          <p:nvPicPr>
            <p:cNvPr id="10" name="Imagen 9" descr="Back Pressure Regulators | Fine Controls Ltd">
              <a:extLst>
                <a:ext uri="{FF2B5EF4-FFF2-40B4-BE49-F238E27FC236}">
                  <a16:creationId xmlns:a16="http://schemas.microsoft.com/office/drawing/2014/main" id="{E37ED5F2-02F5-8DB9-8C78-018BA084E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97436" y="-2"/>
              <a:ext cx="3198564" cy="1890001"/>
            </a:xfrm>
            <a:prstGeom prst="rect">
              <a:avLst/>
            </a:prstGeom>
          </p:spPr>
        </p:pic>
        <p:pic>
          <p:nvPicPr>
            <p:cNvPr id="11" name="Imagen 10" descr="管道管理中的泄漏监测 | Phoenix Contact">
              <a:extLst>
                <a:ext uri="{FF2B5EF4-FFF2-40B4-BE49-F238E27FC236}">
                  <a16:creationId xmlns:a16="http://schemas.microsoft.com/office/drawing/2014/main" id="{5DBAEE3A-093B-E648-C0EE-743F3BB37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5999" y="0"/>
              <a:ext cx="3205917" cy="1889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92344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8A5DC7F-02AF-B99F-C2A1-410B7BDF9F8F}"/>
              </a:ext>
            </a:extLst>
          </p:cNvPr>
          <p:cNvSpPr txBox="1"/>
          <p:nvPr/>
        </p:nvSpPr>
        <p:spPr>
          <a:xfrm>
            <a:off x="508000" y="3046806"/>
            <a:ext cx="1116330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 lang="es-MX" b="1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just">
              <a:lnSpc>
                <a:spcPts val="2400"/>
              </a:lnSpc>
              <a:buNone/>
            </a:pPr>
            <a:r>
              <a:rPr lang="es-MX" b="0" i="0" dirty="0">
                <a:solidFill>
                  <a:srgbClr val="2B2B2B"/>
                </a:solidFill>
                <a:effectLst/>
                <a:latin typeface="Red Hat Display"/>
              </a:rPr>
              <a:t>La empresa puede participar en proyectos bajo </a:t>
            </a:r>
            <a:r>
              <a:rPr lang="es-MX" b="1" i="0" dirty="0">
                <a:solidFill>
                  <a:srgbClr val="2B2B2B"/>
                </a:solidFill>
                <a:effectLst/>
                <a:latin typeface="Red Hat Display"/>
              </a:rPr>
              <a:t>distintos esquemas de asistencia y contratación</a:t>
            </a:r>
            <a:r>
              <a:rPr lang="es-MX" b="0" i="0" dirty="0">
                <a:solidFill>
                  <a:srgbClr val="2B2B2B"/>
                </a:solidFill>
                <a:effectLst/>
                <a:latin typeface="Red Hat Display"/>
              </a:rPr>
              <a:t>, adaptándose a los requerimientos técnicos, operativos y contractuales de cada cliente. Esta flexibilidad permite integrarse de manera eficiente a proyectos de </a:t>
            </a:r>
            <a:r>
              <a:rPr lang="es-MX" b="1" i="0" dirty="0">
                <a:solidFill>
                  <a:srgbClr val="2B2B2B"/>
                </a:solidFill>
                <a:effectLst/>
                <a:latin typeface="Red Hat Display"/>
              </a:rPr>
              <a:t>diversa magnitud y complejidad</a:t>
            </a:r>
            <a:r>
              <a:rPr lang="es-MX" b="0" i="0" dirty="0">
                <a:solidFill>
                  <a:srgbClr val="2B2B2B"/>
                </a:solidFill>
                <a:effectLst/>
                <a:latin typeface="Red Hat Display"/>
              </a:rPr>
              <a:t>, respondiendo a las condiciones específicas de cada entorno industrial.</a:t>
            </a:r>
          </a:p>
          <a:p>
            <a:pPr>
              <a:buNone/>
            </a:pPr>
            <a:endParaRPr lang="es-VE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05C6F9D-A224-E3A8-8424-24365BDAB7EC}"/>
              </a:ext>
            </a:extLst>
          </p:cNvPr>
          <p:cNvSpPr txBox="1"/>
          <p:nvPr/>
        </p:nvSpPr>
        <p:spPr>
          <a:xfrm>
            <a:off x="2590800" y="2463975"/>
            <a:ext cx="772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500"/>
              </a:spcAft>
              <a:buNone/>
            </a:pPr>
            <a:r>
              <a:rPr lang="es-MX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Flexibilidad para distintos esquemas de trabajo</a:t>
            </a:r>
            <a:endParaRPr lang="es-VE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3E622990-BA6A-9FF6-C6D4-D3584952F55A}"/>
              </a:ext>
            </a:extLst>
          </p:cNvPr>
          <p:cNvGrpSpPr/>
          <p:nvPr/>
        </p:nvGrpSpPr>
        <p:grpSpPr>
          <a:xfrm>
            <a:off x="20548" y="-2"/>
            <a:ext cx="12136915" cy="1890003"/>
            <a:chOff x="0" y="-2"/>
            <a:chExt cx="12136915" cy="1890003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29C6AD2D-3363-ED2F-8078-2365CFC4BD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01916" y="-1"/>
              <a:ext cx="2834999" cy="1889999"/>
            </a:xfrm>
            <a:prstGeom prst="rect">
              <a:avLst/>
            </a:prstGeom>
          </p:spPr>
        </p:pic>
        <p:pic>
          <p:nvPicPr>
            <p:cNvPr id="7" name="Imagen 6" descr="Resultado de imagen de INSTRUMENTACION EN LA INDUSTRIA PETROLERA">
              <a:extLst>
                <a:ext uri="{FF2B5EF4-FFF2-40B4-BE49-F238E27FC236}">
                  <a16:creationId xmlns:a16="http://schemas.microsoft.com/office/drawing/2014/main" id="{18090443-A543-D5F9-016D-EEB439D74A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2897436" cy="1890001"/>
            </a:xfrm>
            <a:prstGeom prst="rect">
              <a:avLst/>
            </a:prstGeom>
          </p:spPr>
        </p:pic>
        <p:pic>
          <p:nvPicPr>
            <p:cNvPr id="8" name="Imagen 7" descr="Back Pressure Regulators | Fine Controls Ltd">
              <a:extLst>
                <a:ext uri="{FF2B5EF4-FFF2-40B4-BE49-F238E27FC236}">
                  <a16:creationId xmlns:a16="http://schemas.microsoft.com/office/drawing/2014/main" id="{75C6577F-E6B4-0308-07FC-AE053D829B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97436" y="-2"/>
              <a:ext cx="3198564" cy="1890001"/>
            </a:xfrm>
            <a:prstGeom prst="rect">
              <a:avLst/>
            </a:prstGeom>
          </p:spPr>
        </p:pic>
        <p:pic>
          <p:nvPicPr>
            <p:cNvPr id="9" name="Imagen 8" descr="管道管理中的泄漏监测 | Phoenix Contact">
              <a:extLst>
                <a:ext uri="{FF2B5EF4-FFF2-40B4-BE49-F238E27FC236}">
                  <a16:creationId xmlns:a16="http://schemas.microsoft.com/office/drawing/2014/main" id="{A2C50CDE-9774-9A72-304D-6ED536689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5999" y="0"/>
              <a:ext cx="3205917" cy="1889999"/>
            </a:xfrm>
            <a:prstGeom prst="rect">
              <a:avLst/>
            </a:prstGeom>
          </p:spPr>
        </p:pic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828AAE53-7E5F-866B-A62F-6AFA7DC9C6BF}"/>
              </a:ext>
            </a:extLst>
          </p:cNvPr>
          <p:cNvSpPr txBox="1"/>
          <p:nvPr/>
        </p:nvSpPr>
        <p:spPr>
          <a:xfrm>
            <a:off x="3346450" y="1930687"/>
            <a:ext cx="5499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SADACO C.A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1FFF096-6252-1E15-ADDE-B096540B99E5}"/>
              </a:ext>
            </a:extLst>
          </p:cNvPr>
          <p:cNvSpPr txBox="1"/>
          <p:nvPr/>
        </p:nvSpPr>
        <p:spPr>
          <a:xfrm>
            <a:off x="3122671" y="4994577"/>
            <a:ext cx="593395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Nuestros Contactos</a:t>
            </a:r>
          </a:p>
          <a:p>
            <a:pPr algn="ctr"/>
            <a:endParaRPr lang="es-MX" sz="2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s-MX" sz="2000" dirty="0"/>
              <a:t>Dirección: Carretera L, entre 34 y 41, Residencias Gira Luna, Planta Baja, Ciudad Ojeda estado Zulia, Venezuela</a:t>
            </a:r>
            <a:r>
              <a:rPr lang="es-VE" sz="2000" dirty="0"/>
              <a:t>.</a:t>
            </a: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8056626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</TotalTime>
  <Words>698</Words>
  <Application>Microsoft Office PowerPoint</Application>
  <PresentationFormat>Panorámica</PresentationFormat>
  <Paragraphs>39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4" baseType="lpstr">
      <vt:lpstr>Red Hat Display</vt:lpstr>
      <vt:lpstr>Aptos</vt:lpstr>
      <vt:lpstr>Arial</vt:lpstr>
      <vt:lpstr>Calibri</vt:lpstr>
      <vt:lpstr>Calibri Light</vt:lpstr>
      <vt:lpstr>Montserrat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Flores</dc:creator>
  <cp:lastModifiedBy>Maria Flores</cp:lastModifiedBy>
  <cp:revision>62</cp:revision>
  <dcterms:created xsi:type="dcterms:W3CDTF">2026-09-24T14:42:28Z</dcterms:created>
  <dcterms:modified xsi:type="dcterms:W3CDTF">2026-09-25T20:03:28Z</dcterms:modified>
</cp:coreProperties>
</file>